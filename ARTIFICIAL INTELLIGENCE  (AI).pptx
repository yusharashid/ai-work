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9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817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8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798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94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3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3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3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3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2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38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8692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87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710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452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948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42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0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3634" y="173421"/>
            <a:ext cx="7345179" cy="677917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    </a:t>
            </a:r>
            <a:r>
              <a:rPr lang="en-US" sz="4000" dirty="0">
                <a:latin typeface="Bahnschrift Condensed" panose="020B0502040204020203" pitchFamily="34" charset="0"/>
              </a:rPr>
              <a:t>ARTIFICIAL INTELLIGENCE  (AI) 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890" y="1229193"/>
            <a:ext cx="12192000" cy="562880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291"/>
            <a:ext cx="12191999" cy="5778709"/>
          </a:xfrm>
        </p:spPr>
      </p:pic>
    </p:spTree>
    <p:extLst>
      <p:ext uri="{BB962C8B-B14F-4D97-AF65-F5344CB8AC3E}">
        <p14:creationId xmlns:p14="http://schemas.microsoft.com/office/powerpoint/2010/main" val="2097947174"/>
      </p:ext>
    </p:extLst>
  </p:cSld>
  <p:clrMapOvr>
    <a:masterClrMapping/>
  </p:clrMapOvr>
  <p:transition spd="slow" advClick="0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909" y="104931"/>
            <a:ext cx="5934508" cy="622091"/>
          </a:xfrm>
        </p:spPr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WHAT IS ARTIFICIAL INTELLIGENCE </a:t>
            </a:r>
            <a:r>
              <a:rPr lang="en-US" dirty="0"/>
              <a:t>? </a:t>
            </a: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" b="2900"/>
          <a:stretch>
            <a:fillRect/>
          </a:stretch>
        </p:blipFill>
        <p:spPr>
          <a:xfrm>
            <a:off x="0" y="0"/>
            <a:ext cx="4332157" cy="6854251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06910" y="864776"/>
            <a:ext cx="6850506" cy="5576342"/>
          </a:xfrm>
        </p:spPr>
        <p:txBody>
          <a:bodyPr>
            <a:normAutofit/>
          </a:bodyPr>
          <a:lstStyle/>
          <a:p>
            <a:r>
              <a:rPr lang="en-US" sz="3200" i="1" dirty="0">
                <a:latin typeface="Bahnschrift SemiBold Condensed" panose="020B0502040204020203" pitchFamily="34" charset="0"/>
              </a:rPr>
              <a:t>Artificial Intelligence (AI) is a technology that allows computers and </a:t>
            </a:r>
            <a:r>
              <a:rPr lang="en-US" sz="3200" i="1" dirty="0" smtClean="0">
                <a:latin typeface="Bahnschrift SemiBold Condensed" panose="020B0502040204020203" pitchFamily="34" charset="0"/>
              </a:rPr>
              <a:t> </a:t>
            </a:r>
            <a:r>
              <a:rPr lang="en-US" sz="3200" i="1" dirty="0">
                <a:latin typeface="Bahnschrift SemiBold Condensed" panose="020B0502040204020203" pitchFamily="34" charset="0"/>
              </a:rPr>
              <a:t>machines to perform tasks </a:t>
            </a:r>
            <a:r>
              <a:rPr lang="en-US" sz="3200" i="1" dirty="0" smtClean="0">
                <a:latin typeface="Bahnschrift SemiBold Condensed" panose="020B0502040204020203" pitchFamily="34" charset="0"/>
              </a:rPr>
              <a:t>that normally need </a:t>
            </a:r>
            <a:r>
              <a:rPr lang="en-US" sz="3200" i="1" dirty="0">
                <a:latin typeface="Bahnschrift SemiBold Condensed" panose="020B0502040204020203" pitchFamily="34" charset="0"/>
              </a:rPr>
              <a:t>human intelligence</a:t>
            </a:r>
            <a:r>
              <a:rPr lang="en-US" sz="3200" i="1" dirty="0" smtClean="0">
                <a:latin typeface="Bahnschrift SemiBold Condensed" panose="020B0502040204020203" pitchFamily="34" charset="0"/>
              </a:rPr>
              <a:t>.</a:t>
            </a:r>
          </a:p>
          <a:p>
            <a:r>
              <a:rPr lang="en-US" sz="3200" i="1" dirty="0">
                <a:latin typeface="Bahnschrift SemiBold Condensed" panose="020B0502040204020203" pitchFamily="34" charset="0"/>
              </a:rPr>
              <a:t> AI CAN</a:t>
            </a:r>
            <a:r>
              <a:rPr lang="en-US" sz="3200" i="1" dirty="0" smtClean="0">
                <a:latin typeface="Bahnschrift SemiBold Condensed" panose="020B0502040204020203" pitchFamily="34" charset="0"/>
              </a:rPr>
              <a:t>:</a:t>
            </a:r>
          </a:p>
          <a:p>
            <a:r>
              <a:rPr lang="en-US" sz="3200" i="1" dirty="0">
                <a:latin typeface="Bahnschrift SemiBold Condensed" panose="020B0502040204020203" pitchFamily="34" charset="0"/>
              </a:rPr>
              <a:t>• Learn from information • Solve problems </a:t>
            </a:r>
            <a:endParaRPr lang="en-US" sz="3200" i="1" dirty="0" smtClean="0">
              <a:latin typeface="Bahnschrift SemiBold Condensed" panose="020B0502040204020203" pitchFamily="34" charset="0"/>
            </a:endParaRPr>
          </a:p>
          <a:p>
            <a:r>
              <a:rPr lang="en-US" sz="3200" i="1" dirty="0">
                <a:latin typeface="Bahnschrift SemiBold Condensed" panose="020B0502040204020203" pitchFamily="34" charset="0"/>
              </a:rPr>
              <a:t>• Understand language • Make decisions </a:t>
            </a:r>
            <a:endParaRPr lang="en-US" sz="3200" i="1" dirty="0" smtClean="0">
              <a:latin typeface="Bahnschrift SemiBold Condensed" panose="020B0502040204020203" pitchFamily="34" charset="0"/>
            </a:endParaRPr>
          </a:p>
          <a:p>
            <a:r>
              <a:rPr lang="en-US" sz="3200" i="1" dirty="0">
                <a:latin typeface="Bahnschrift SemiBold Condensed" panose="020B0502040204020203" pitchFamily="34" charset="0"/>
              </a:rPr>
              <a:t>• Recognize </a:t>
            </a:r>
            <a:r>
              <a:rPr lang="en-US" sz="3200" i="1" dirty="0" smtClean="0">
                <a:latin typeface="Bahnschrift SemiBold Condensed" panose="020B0502040204020203" pitchFamily="34" charset="0"/>
              </a:rPr>
              <a:t>images • Create new thing</a:t>
            </a:r>
            <a:endParaRPr lang="en-US" sz="3200" i="1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871765"/>
      </p:ext>
    </p:extLst>
  </p:cSld>
  <p:clrMapOvr>
    <a:masterClrMapping/>
  </p:clrMapOvr>
  <p:transition spd="slow" advClick="0" advTm="10000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autoRev="1" fill="remov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remov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autoRev="1" fill="remov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" dur="250" autoRev="1" fill="remov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remov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remov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250" autoRev="1" fill="remov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" dur="250" autoRev="1" fill="remov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50" autoRev="1" fill="remov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remov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remov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250" autoRev="1" fill="remov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remov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8796" y="47470"/>
            <a:ext cx="5934508" cy="642078"/>
          </a:xfrm>
        </p:spPr>
        <p:txBody>
          <a:bodyPr/>
          <a:lstStyle/>
          <a:p>
            <a:pPr algn="ctr"/>
            <a:r>
              <a:rPr lang="en-US" dirty="0" smtClean="0">
                <a:latin typeface="Bahnschrift Condensed" panose="020B0502040204020203" pitchFamily="34" charset="0"/>
              </a:rPr>
              <a:t>Why </a:t>
            </a:r>
            <a:r>
              <a:rPr lang="en-US" dirty="0">
                <a:latin typeface="Bahnschrift Condensed" panose="020B0502040204020203" pitchFamily="34" charset="0"/>
              </a:rPr>
              <a:t>AI Is </a:t>
            </a:r>
            <a:r>
              <a:rPr lang="en-US" dirty="0" smtClean="0">
                <a:latin typeface="Bahnschrift Condensed" panose="020B0502040204020203" pitchFamily="34" charset="0"/>
              </a:rPr>
              <a:t>Important ?</a:t>
            </a:r>
            <a:endParaRPr lang="en-US" dirty="0">
              <a:latin typeface="Bahnschrift Condensed" panose="020B0502040204020203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" r="465"/>
          <a:stretch>
            <a:fillRect/>
          </a:stretch>
        </p:blipFill>
        <p:spPr>
          <a:xfrm>
            <a:off x="0" y="0"/>
            <a:ext cx="4634121" cy="6858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66872" y="869430"/>
            <a:ext cx="7092508" cy="5776209"/>
          </a:xfrm>
        </p:spPr>
        <p:txBody>
          <a:bodyPr>
            <a:noAutofit/>
          </a:bodyPr>
          <a:lstStyle/>
          <a:p>
            <a:r>
              <a:rPr lang="en-US" sz="1800" i="1" dirty="0">
                <a:latin typeface="Bahnschrift Condensed" panose="020B0502040204020203" pitchFamily="34" charset="0"/>
              </a:rPr>
              <a:t>Artificial Intelligence is important because it helps people and computers work faster, solve problems, and make better decisions. It is useful in </a:t>
            </a:r>
            <a:r>
              <a:rPr lang="en-US" sz="1800" i="1" dirty="0" smtClean="0">
                <a:latin typeface="Bahnschrift Condensed" panose="020B0502040204020203" pitchFamily="34" charset="0"/>
              </a:rPr>
              <a:t>many </a:t>
            </a:r>
            <a:r>
              <a:rPr lang="en-US" sz="1800" i="1" dirty="0">
                <a:latin typeface="Bahnschrift Condensed" panose="020B0502040204020203" pitchFamily="34" charset="0"/>
              </a:rPr>
              <a:t>areas of our daily life</a:t>
            </a:r>
            <a:r>
              <a:rPr lang="en-US" sz="1800" i="1" dirty="0" smtClean="0">
                <a:latin typeface="Bahnschrift Condensed" panose="020B0502040204020203" pitchFamily="34" charset="0"/>
              </a:rPr>
              <a:t>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AI Helps In: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1. Improving Productivity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complete many tasks quickly and save time.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2. Solving Problems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analyze information and help find solutions to difficult problems.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3. Healthcare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help doctors study medical information and support patient care.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4. Education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help students learn, practice, and understand difficult topics.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5. Making Better </a:t>
            </a:r>
            <a:r>
              <a:rPr lang="en-US" sz="1800" b="1" i="1" dirty="0" smtClean="0">
                <a:latin typeface="Bahnschrift Condensed" panose="020B0502040204020203" pitchFamily="34" charset="0"/>
              </a:rPr>
              <a:t>Decisions  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study large amounts of information and help people make informed decisions</a:t>
            </a:r>
            <a:r>
              <a:rPr lang="en-US" dirty="0"/>
              <a:t>.</a:t>
            </a:r>
          </a:p>
          <a:p>
            <a:r>
              <a:rPr lang="en-US" dirty="0"/>
              <a:t>          </a:t>
            </a:r>
            <a:r>
              <a:rPr lang="en-US" dirty="0" smtClean="0"/>
              <a:t>       </a:t>
            </a:r>
            <a:r>
              <a:rPr lang="en-US" i="1" dirty="0" smtClean="0">
                <a:latin typeface="Bahnschrift Condensed" panose="020B0502040204020203" pitchFamily="34" charset="0"/>
              </a:rPr>
              <a:t>“AI </a:t>
            </a:r>
            <a:r>
              <a:rPr lang="en-US" i="1" dirty="0">
                <a:latin typeface="Bahnschrift Condensed" panose="020B0502040204020203" pitchFamily="34" charset="0"/>
              </a:rPr>
              <a:t>makes technology smarter, faster, and more useful.”</a:t>
            </a:r>
          </a:p>
        </p:txBody>
      </p:sp>
    </p:spTree>
    <p:extLst>
      <p:ext uri="{BB962C8B-B14F-4D97-AF65-F5344CB8AC3E}">
        <p14:creationId xmlns:p14="http://schemas.microsoft.com/office/powerpoint/2010/main" val="353704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0">
        <p14:honeycomb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6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0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4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6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7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8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0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2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3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4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8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1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2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6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8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9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0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4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6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7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8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4357" y="14990"/>
            <a:ext cx="5934508" cy="764498"/>
          </a:xfrm>
        </p:spPr>
        <p:txBody>
          <a:bodyPr/>
          <a:lstStyle/>
          <a:p>
            <a:pPr algn="ctr"/>
            <a:r>
              <a:rPr lang="en-US" dirty="0">
                <a:latin typeface="Bahnschrift Condensed" panose="020B0502040204020203" pitchFamily="34" charset="0"/>
              </a:rPr>
              <a:t>Types of </a:t>
            </a:r>
            <a:r>
              <a:rPr lang="en-US" dirty="0" smtClean="0">
                <a:latin typeface="Bahnschrift Condensed" panose="020B0502040204020203" pitchFamily="34" charset="0"/>
              </a:rPr>
              <a:t>AI </a:t>
            </a:r>
            <a:r>
              <a:rPr lang="en-US" dirty="0" smtClean="0">
                <a:latin typeface="Bahnschrift Condensed" panose="020B0502040204020203" pitchFamily="34" charset="0"/>
              </a:rPr>
              <a:t>?</a:t>
            </a:r>
            <a:endParaRPr lang="en-US" dirty="0">
              <a:latin typeface="Bahnschrift Condensed" panose="020B0502040204020203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" b="2900"/>
          <a:stretch>
            <a:fillRect/>
          </a:stretch>
        </p:blipFill>
        <p:spPr>
          <a:xfrm>
            <a:off x="1" y="1"/>
            <a:ext cx="4274356" cy="6858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039" y="1124261"/>
            <a:ext cx="7015058" cy="5471411"/>
          </a:xfrm>
        </p:spPr>
        <p:txBody>
          <a:bodyPr>
            <a:normAutofit lnSpcReduction="10000"/>
          </a:bodyPr>
          <a:lstStyle/>
          <a:p>
            <a:r>
              <a:rPr lang="en-US" sz="2000" b="1" i="1" dirty="0">
                <a:latin typeface="Bahnschrift Condensed" panose="020B0502040204020203" pitchFamily="34" charset="0"/>
              </a:rPr>
              <a:t>Artificial Intelligence can be divided into different types based on how it works and how much human-like intelligence it can have.</a:t>
            </a:r>
            <a:endParaRPr lang="en-US" sz="2000" i="1" dirty="0">
              <a:latin typeface="Bahnschrift Condensed" panose="020B0502040204020203" pitchFamily="34" charset="0"/>
            </a:endParaRP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1. Narrow AI</a:t>
            </a:r>
          </a:p>
          <a:p>
            <a:r>
              <a:rPr lang="en-US" sz="2000" i="1" dirty="0">
                <a:latin typeface="Bahnschrift Condensed" panose="020B0502040204020203" pitchFamily="34" charset="0"/>
              </a:rPr>
              <a:t>Narrow AI is designed to perform </a:t>
            </a:r>
            <a:r>
              <a:rPr lang="en-US" sz="2000" b="1" i="1" dirty="0">
                <a:latin typeface="Bahnschrift Condensed" panose="020B0502040204020203" pitchFamily="34" charset="0"/>
              </a:rPr>
              <a:t>specific tasks</a:t>
            </a:r>
            <a:r>
              <a:rPr lang="en-US" sz="2000" i="1" dirty="0">
                <a:latin typeface="Bahnschrift Condensed" panose="020B0502040204020203" pitchFamily="34" charset="0"/>
              </a:rPr>
              <a:t>.</a:t>
            </a:r>
            <a:br>
              <a:rPr lang="en-US" sz="2000" i="1" dirty="0">
                <a:latin typeface="Bahnschrift Condensed" panose="020B0502040204020203" pitchFamily="34" charset="0"/>
              </a:rPr>
            </a:br>
            <a:r>
              <a:rPr lang="en-US" sz="2000" b="1" i="1" dirty="0">
                <a:latin typeface="Bahnschrift Condensed" panose="020B0502040204020203" pitchFamily="34" charset="0"/>
              </a:rPr>
              <a:t>Examples:</a:t>
            </a:r>
            <a:r>
              <a:rPr lang="en-US" sz="2000" i="1" dirty="0">
                <a:latin typeface="Bahnschrift Condensed" panose="020B0502040204020203" pitchFamily="34" charset="0"/>
              </a:rPr>
              <a:t> Voice assistants, face recognition, spam filters.</a:t>
            </a: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2. General AI</a:t>
            </a:r>
          </a:p>
          <a:p>
            <a:r>
              <a:rPr lang="en-US" sz="2000" i="1" dirty="0">
                <a:latin typeface="Bahnschrift Condensed" panose="020B0502040204020203" pitchFamily="34" charset="0"/>
              </a:rPr>
              <a:t>General AI is a future type of AI that could </a:t>
            </a:r>
            <a:r>
              <a:rPr lang="en-US" sz="2000" b="1" i="1" dirty="0">
                <a:latin typeface="Bahnschrift Condensed" panose="020B0502040204020203" pitchFamily="34" charset="0"/>
              </a:rPr>
              <a:t>learn and perform many different tasks like a human</a:t>
            </a:r>
            <a:r>
              <a:rPr lang="en-US" sz="2000" i="1" dirty="0">
                <a:latin typeface="Bahnschrift Condensed" panose="020B0502040204020203" pitchFamily="34" charset="0"/>
              </a:rPr>
              <a:t>. It is still being researched.</a:t>
            </a: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3. Super AI</a:t>
            </a:r>
          </a:p>
          <a:p>
            <a:r>
              <a:rPr lang="en-US" sz="2000" i="1" dirty="0">
                <a:latin typeface="Bahnschrift Condensed" panose="020B0502040204020203" pitchFamily="34" charset="0"/>
              </a:rPr>
              <a:t>Super AI is a </a:t>
            </a:r>
            <a:r>
              <a:rPr lang="en-US" sz="2000" b="1" i="1" dirty="0">
                <a:latin typeface="Bahnschrift Condensed" panose="020B0502040204020203" pitchFamily="34" charset="0"/>
              </a:rPr>
              <a:t>theoretical future idea</a:t>
            </a:r>
            <a:r>
              <a:rPr lang="en-US" sz="2000" i="1" dirty="0">
                <a:latin typeface="Bahnschrift Condensed" panose="020B0502040204020203" pitchFamily="34" charset="0"/>
              </a:rPr>
              <a:t> in which AI could become more capable than humans in many areas. It does not currently exist.</a:t>
            </a:r>
          </a:p>
          <a:p>
            <a:r>
              <a:rPr lang="en-US" sz="2000" i="1" dirty="0" smtClean="0">
                <a:latin typeface="Bahnschrift Condensed" panose="020B0502040204020203" pitchFamily="34" charset="0"/>
              </a:rPr>
              <a:t>        </a:t>
            </a:r>
            <a:r>
              <a:rPr lang="en-US" sz="2000" b="1" i="1" dirty="0" smtClean="0">
                <a:latin typeface="Bahnschrift Condensed" panose="020B0502040204020203" pitchFamily="34" charset="0"/>
              </a:rPr>
              <a:t>Different </a:t>
            </a:r>
            <a:r>
              <a:rPr lang="en-US" sz="2000" b="1" i="1" dirty="0">
                <a:latin typeface="Bahnschrift Condensed" panose="020B0502040204020203" pitchFamily="34" charset="0"/>
              </a:rPr>
              <a:t>types, same goal — to make life easier </a:t>
            </a:r>
            <a:r>
              <a:rPr lang="en-US" sz="2000" b="1" i="1" dirty="0" smtClean="0">
                <a:latin typeface="Bahnschrift Condensed" panose="020B0502040204020203" pitchFamily="34" charset="0"/>
              </a:rPr>
              <a:t>and smarter</a:t>
            </a:r>
            <a:endParaRPr lang="en-US" sz="2000" i="1" dirty="0">
              <a:latin typeface="Bahnschrift Condensed" panose="020B0502040204020203" pitchFamily="34" charset="0"/>
            </a:endParaRPr>
          </a:p>
          <a:p>
            <a:r>
              <a:rPr lang="en-US" sz="2000" i="1" dirty="0" smtClean="0">
                <a:latin typeface="Bahnschrift Condensed" panose="020B0502040204020203" pitchFamily="34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608589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0">
        <p14:vortex dir="r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7029" y="204865"/>
            <a:ext cx="5934508" cy="569627"/>
          </a:xfrm>
        </p:spPr>
        <p:txBody>
          <a:bodyPr/>
          <a:lstStyle/>
          <a:p>
            <a:pPr algn="ctr"/>
            <a:r>
              <a:rPr lang="en-US" dirty="0">
                <a:latin typeface="Bahnschrift Condensed" panose="020B0502040204020203" pitchFamily="34" charset="0"/>
              </a:rPr>
              <a:t>Applications of </a:t>
            </a:r>
            <a:r>
              <a:rPr lang="en-US" dirty="0" smtClean="0">
                <a:latin typeface="Bahnschrift Condensed" panose="020B0502040204020203" pitchFamily="34" charset="0"/>
              </a:rPr>
              <a:t>AI ?</a:t>
            </a:r>
            <a:endParaRPr lang="en-US" b="1" dirty="0">
              <a:latin typeface="Bahnschrift Condensed" panose="020B0502040204020203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6176" y="1023207"/>
            <a:ext cx="7000407" cy="5051686"/>
          </a:xfrm>
        </p:spPr>
        <p:txBody>
          <a:bodyPr>
            <a:normAutofit/>
          </a:bodyPr>
          <a:lstStyle/>
          <a:p>
            <a:r>
              <a:rPr lang="en-US" sz="2000" b="1" i="1" dirty="0">
                <a:latin typeface="Bahnschrift Condensed" panose="020B0502040204020203" pitchFamily="34" charset="0"/>
              </a:rPr>
              <a:t>AI is used in many real-world applications. It helps us solve problems, save time, and make our daily lives easier.</a:t>
            </a:r>
            <a:endParaRPr lang="en-US" sz="2000" i="1" dirty="0">
              <a:latin typeface="Bahnschrift Condensed" panose="020B0502040204020203" pitchFamily="34" charset="0"/>
            </a:endParaRP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AI is used in</a:t>
            </a:r>
            <a:r>
              <a:rPr lang="en-US" sz="2000" b="1" i="1" dirty="0" smtClean="0">
                <a:latin typeface="Bahnschrift Condensed" panose="020B0502040204020203" pitchFamily="34" charset="0"/>
              </a:rPr>
              <a:t>:</a:t>
            </a:r>
            <a:endParaRPr lang="en-US" sz="2000" i="1" dirty="0">
              <a:latin typeface="Bahnschrift Condensed" panose="020B0502040204020203" pitchFamily="34" charset="0"/>
            </a:endParaRP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Healthcare</a:t>
            </a:r>
            <a:r>
              <a:rPr lang="en-US" sz="2000" i="1" dirty="0">
                <a:latin typeface="Bahnschrift Condensed" panose="020B0502040204020203" pitchFamily="34" charset="0"/>
              </a:rPr>
              <a:t> — Helps doctors and patients. </a:t>
            </a: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Education</a:t>
            </a:r>
            <a:r>
              <a:rPr lang="en-US" sz="2000" i="1" dirty="0">
                <a:latin typeface="Bahnschrift Condensed" panose="020B0502040204020203" pitchFamily="34" charset="0"/>
              </a:rPr>
              <a:t> — Helps students learn. </a:t>
            </a: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Business</a:t>
            </a:r>
            <a:r>
              <a:rPr lang="en-US" sz="2000" i="1" dirty="0">
                <a:latin typeface="Bahnschrift Condensed" panose="020B0502040204020203" pitchFamily="34" charset="0"/>
              </a:rPr>
              <a:t> — Helps companies work faster. </a:t>
            </a: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Transportation</a:t>
            </a:r>
            <a:r>
              <a:rPr lang="en-US" sz="2000" i="1" dirty="0">
                <a:latin typeface="Bahnschrift Condensed" panose="020B0502040204020203" pitchFamily="34" charset="0"/>
              </a:rPr>
              <a:t> — Helps improve travel and traffic. </a:t>
            </a: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Entertainment</a:t>
            </a:r>
            <a:r>
              <a:rPr lang="en-US" sz="2000" i="1" dirty="0">
                <a:latin typeface="Bahnschrift Condensed" panose="020B0502040204020203" pitchFamily="34" charset="0"/>
              </a:rPr>
              <a:t> — Gives better recommendations and experiences. </a:t>
            </a:r>
          </a:p>
          <a:p>
            <a:endParaRPr lang="en-US" sz="2000" i="1" dirty="0">
              <a:latin typeface="Bahnschrift Condensed" panose="020B0502040204020203" pitchFamily="34" charset="0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" b="2900"/>
          <a:stretch>
            <a:fillRect/>
          </a:stretch>
        </p:blipFill>
        <p:spPr>
          <a:xfrm>
            <a:off x="179881" y="0"/>
            <a:ext cx="4347148" cy="6857999"/>
          </a:xfrm>
        </p:spPr>
      </p:pic>
    </p:spTree>
    <p:extLst>
      <p:ext uri="{BB962C8B-B14F-4D97-AF65-F5344CB8AC3E}">
        <p14:creationId xmlns:p14="http://schemas.microsoft.com/office/powerpoint/2010/main" val="35352595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 advClick="0" advTm="10000">
        <p15:prstTrans prst="curtains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50" autoRev="1" fill="remov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250" autoRev="1" fill="remov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autoRev="1" fill="remov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250" autoRev="1" fill="remov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50" autoRev="1" fill="remov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50" autoRev="1" fill="remov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" dur="250" autoRev="1" fill="remov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remov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remov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250" autoRev="1" fill="remov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250" autoRev="1" fill="remov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" dur="250" autoRev="1" fill="remov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250" autoRev="1" fill="remov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250" autoRev="1" fill="remov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50" autoRev="1" fill="remov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" dur="250" autoRev="1" fill="remov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250" autoRev="1" fill="remov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50" autoRev="1" fill="remov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50" autoRev="1" fill="remov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0" dur="250" autoRev="1" fill="remov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323" y="-1"/>
            <a:ext cx="5389011" cy="725215"/>
          </a:xfrm>
        </p:spPr>
        <p:txBody>
          <a:bodyPr/>
          <a:lstStyle/>
          <a:p>
            <a:pPr algn="ctr"/>
            <a:r>
              <a:rPr lang="en-US" dirty="0">
                <a:latin typeface="Bahnschrift Condensed" panose="020B0502040204020203" pitchFamily="34" charset="0"/>
              </a:rPr>
              <a:t>AI in Everyday Life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" b="2900"/>
          <a:stretch>
            <a:fillRect/>
          </a:stretch>
        </p:blipFill>
        <p:spPr>
          <a:xfrm>
            <a:off x="0" y="-1"/>
            <a:ext cx="4382814" cy="6858001"/>
          </a:xfrm>
          <a:prstGeom prst="round2DiagRect">
            <a:avLst>
              <a:gd name="adj1" fmla="val 5608"/>
              <a:gd name="adj2" fmla="val 1439"/>
            </a:avLst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45421" y="930166"/>
            <a:ext cx="7283668" cy="5531068"/>
          </a:xfrm>
        </p:spPr>
        <p:txBody>
          <a:bodyPr>
            <a:normAutofit lnSpcReduction="10000"/>
          </a:bodyPr>
          <a:lstStyle/>
          <a:p>
            <a:r>
              <a:rPr lang="en-US" sz="1800" b="1" i="1" dirty="0">
                <a:latin typeface="Bahnschrift Condensed" panose="020B0502040204020203" pitchFamily="34" charset="0"/>
              </a:rPr>
              <a:t>AI is already a part of our daily lives. We use AI in many devices and apps to make tasks easier, faster, and more convenient.</a:t>
            </a:r>
            <a:endParaRPr lang="en-US" sz="1800" i="1" dirty="0">
              <a:latin typeface="Bahnschrift Condensed" panose="020B0502040204020203" pitchFamily="34" charset="0"/>
            </a:endParaRP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AI in Daily Life: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1. Smartphones 📱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helps with face unlock, cameras, and voice assistants.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2. Google Maps 🗺️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helps find routes and understand traffic conditions.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3. YouTube &amp; Netflix 🎬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suggests videos and movies based on our interests.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4. Voice Assistants 🎙️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understand our voice and answer questions.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5. Online Shopping 🛒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recommends products that may be useful to us</a:t>
            </a:r>
            <a:r>
              <a:rPr lang="en-US" sz="1800" i="1" dirty="0" smtClean="0">
                <a:latin typeface="Bahnschrift Condensed" panose="020B0502040204020203" pitchFamily="34" charset="0"/>
              </a:rPr>
              <a:t>.</a:t>
            </a:r>
          </a:p>
          <a:p>
            <a:r>
              <a:rPr lang="en-US" sz="1800" i="1" dirty="0" smtClean="0">
                <a:latin typeface="Bahnschrift Condensed" panose="020B0502040204020203" pitchFamily="34" charset="0"/>
              </a:rPr>
              <a:t>                    </a:t>
            </a:r>
            <a:r>
              <a:rPr lang="en-US" sz="1800" b="1" i="1" dirty="0">
                <a:latin typeface="Bahnschrift Condensed" panose="020B0502040204020203" pitchFamily="34" charset="0"/>
              </a:rPr>
              <a:t>AI is quietly working around us every day.</a:t>
            </a:r>
            <a:endParaRPr lang="en-US" sz="1800" i="1" dirty="0">
              <a:latin typeface="Bahnschrift Condensed" panose="020B0502040204020203" pitchFamily="34" charset="0"/>
            </a:endParaRPr>
          </a:p>
          <a:p>
            <a:endParaRPr lang="en-US" sz="1800" i="1" dirty="0">
              <a:latin typeface="Bahnschrift Condensed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0">
        <p14:shred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07" y="189187"/>
            <a:ext cx="5934508" cy="609601"/>
          </a:xfrm>
        </p:spPr>
        <p:txBody>
          <a:bodyPr/>
          <a:lstStyle/>
          <a:p>
            <a:pPr algn="ctr"/>
            <a:r>
              <a:rPr lang="en-US" dirty="0">
                <a:latin typeface="Bahnschrift Condensed" panose="020B0502040204020203" pitchFamily="34" charset="0"/>
              </a:rPr>
              <a:t>AI in Education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0" b="2880"/>
          <a:stretch>
            <a:fillRect/>
          </a:stretch>
        </p:blipFill>
        <p:spPr>
          <a:xfrm>
            <a:off x="-1" y="0"/>
            <a:ext cx="4389107" cy="6858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82359" y="930166"/>
            <a:ext cx="7087469" cy="5927834"/>
          </a:xfrm>
        </p:spPr>
        <p:txBody>
          <a:bodyPr>
            <a:normAutofit/>
          </a:bodyPr>
          <a:lstStyle/>
          <a:p>
            <a:r>
              <a:rPr lang="en-US" sz="1800" b="1" i="1" dirty="0">
                <a:latin typeface="Bahnschrift Condensed" panose="020B0502040204020203" pitchFamily="34" charset="0"/>
              </a:rPr>
              <a:t>AI in education means using Artificial Intelligence to help students learn better and help teachers make education easier and more effective.</a:t>
            </a:r>
            <a:endParaRPr lang="en-US" sz="1800" i="1" dirty="0">
              <a:latin typeface="Bahnschrift Condensed" panose="020B0502040204020203" pitchFamily="34" charset="0"/>
            </a:endParaRP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How AI Helps Education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1. Smart Learning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explain difficult topics in simple words.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2. Personalized Learning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give students learning activities according to their needs.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3. Quick Answers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help students find information and understand questions.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4. Practice &amp; Tests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create quizzes and practice questions for students.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5. Help for Teachers</a:t>
            </a:r>
            <a:r>
              <a:rPr lang="en-US" sz="1800" i="1" dirty="0">
                <a:latin typeface="Bahnschrift Condensed" panose="020B0502040204020203" pitchFamily="34" charset="0"/>
              </a:rPr>
              <a:t/>
            </a:r>
            <a:br>
              <a:rPr lang="en-US" sz="1800" i="1" dirty="0">
                <a:latin typeface="Bahnschrift Condensed" panose="020B0502040204020203" pitchFamily="34" charset="0"/>
              </a:rPr>
            </a:br>
            <a:r>
              <a:rPr lang="en-US" sz="1800" i="1" dirty="0">
                <a:latin typeface="Bahnschrift Condensed" panose="020B0502040204020203" pitchFamily="34" charset="0"/>
              </a:rPr>
              <a:t>AI can help teachers prepare lessons and learning materials.</a:t>
            </a:r>
          </a:p>
          <a:p>
            <a:r>
              <a:rPr lang="en-US" sz="1800" i="1" dirty="0">
                <a:latin typeface="Bahnschrift Condensed" panose="020B0502040204020203" pitchFamily="34" charset="0"/>
              </a:rPr>
              <a:t>           </a:t>
            </a:r>
            <a:r>
              <a:rPr lang="en-US" sz="1800" i="1" dirty="0" smtClean="0">
                <a:latin typeface="Bahnschrift Condensed" panose="020B0502040204020203" pitchFamily="34" charset="0"/>
              </a:rPr>
              <a:t> “</a:t>
            </a:r>
            <a:r>
              <a:rPr lang="en-US" sz="1800" i="1" dirty="0">
                <a:latin typeface="Bahnschrift Condensed" panose="020B0502040204020203" pitchFamily="34" charset="0"/>
              </a:rPr>
              <a:t>AI can make learning easier, smarter, and more interesting.”</a:t>
            </a:r>
          </a:p>
        </p:txBody>
      </p:sp>
    </p:spTree>
    <p:extLst>
      <p:ext uri="{BB962C8B-B14F-4D97-AF65-F5344CB8AC3E}">
        <p14:creationId xmlns:p14="http://schemas.microsoft.com/office/powerpoint/2010/main" val="2393047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0">
        <p14:flash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1186" y="-131378"/>
            <a:ext cx="5934508" cy="740979"/>
          </a:xfrm>
        </p:spPr>
        <p:txBody>
          <a:bodyPr/>
          <a:lstStyle/>
          <a:p>
            <a:pPr algn="ctr"/>
            <a:r>
              <a:rPr lang="en-US" dirty="0">
                <a:latin typeface="Bahnschrift Condensed" panose="020B0502040204020203" pitchFamily="34" charset="0"/>
              </a:rPr>
              <a:t>Advantages of AI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" b="2900"/>
          <a:stretch>
            <a:fillRect/>
          </a:stretch>
        </p:blipFill>
        <p:spPr>
          <a:xfrm>
            <a:off x="0" y="-65690"/>
            <a:ext cx="4079052" cy="6858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1284" y="851338"/>
            <a:ext cx="7472854" cy="5940972"/>
          </a:xfrm>
        </p:spPr>
        <p:txBody>
          <a:bodyPr>
            <a:normAutofit/>
          </a:bodyPr>
          <a:lstStyle/>
          <a:p>
            <a:r>
              <a:rPr lang="en-US" i="1" dirty="0">
                <a:latin typeface="Bahnschrift Condensed" panose="020B0502040204020203" pitchFamily="34" charset="0"/>
              </a:rPr>
              <a:t>Artificial Intelligence has many advantages. It helps people complete tasks faster, save time, solve problems, and improve their daily lives.</a:t>
            </a:r>
          </a:p>
          <a:p>
            <a:r>
              <a:rPr lang="en-US" b="1" i="1" dirty="0">
                <a:latin typeface="Bahnschrift Condensed" panose="020B0502040204020203" pitchFamily="34" charset="0"/>
              </a:rPr>
              <a:t>Main Advantages of AI</a:t>
            </a:r>
          </a:p>
          <a:p>
            <a:r>
              <a:rPr lang="en-US" b="1" i="1" dirty="0">
                <a:latin typeface="Bahnschrift Condensed" panose="020B0502040204020203" pitchFamily="34" charset="0"/>
              </a:rPr>
              <a:t>1. Saves Time</a:t>
            </a:r>
            <a:r>
              <a:rPr lang="en-US" i="1" dirty="0">
                <a:latin typeface="Bahnschrift Condensed" panose="020B0502040204020203" pitchFamily="34" charset="0"/>
              </a:rPr>
              <a:t/>
            </a:r>
            <a:br>
              <a:rPr lang="en-US" i="1" dirty="0">
                <a:latin typeface="Bahnschrift Condensed" panose="020B0502040204020203" pitchFamily="34" charset="0"/>
              </a:rPr>
            </a:br>
            <a:r>
              <a:rPr lang="en-US" i="1" dirty="0">
                <a:latin typeface="Bahnschrift Condensed" panose="020B0502040204020203" pitchFamily="34" charset="0"/>
              </a:rPr>
              <a:t>AI can complete many tasks quickly.</a:t>
            </a:r>
          </a:p>
          <a:p>
            <a:r>
              <a:rPr lang="en-US" b="1" i="1" dirty="0">
                <a:latin typeface="Bahnschrift Condensed" panose="020B0502040204020203" pitchFamily="34" charset="0"/>
              </a:rPr>
              <a:t>2. Works Faster</a:t>
            </a:r>
            <a:r>
              <a:rPr lang="en-US" i="1" dirty="0">
                <a:latin typeface="Bahnschrift Condensed" panose="020B0502040204020203" pitchFamily="34" charset="0"/>
              </a:rPr>
              <a:t/>
            </a:r>
            <a:br>
              <a:rPr lang="en-US" i="1" dirty="0">
                <a:latin typeface="Bahnschrift Condensed" panose="020B0502040204020203" pitchFamily="34" charset="0"/>
              </a:rPr>
            </a:br>
            <a:r>
              <a:rPr lang="en-US" i="1" dirty="0">
                <a:latin typeface="Bahnschrift Condensed" panose="020B0502040204020203" pitchFamily="34" charset="0"/>
              </a:rPr>
              <a:t>AI can process information in a short time.</a:t>
            </a:r>
          </a:p>
          <a:p>
            <a:r>
              <a:rPr lang="en-US" b="1" i="1" dirty="0">
                <a:latin typeface="Bahnschrift Condensed" panose="020B0502040204020203" pitchFamily="34" charset="0"/>
              </a:rPr>
              <a:t>3. Reduces Human Effort</a:t>
            </a:r>
            <a:r>
              <a:rPr lang="en-US" i="1" dirty="0">
                <a:latin typeface="Bahnschrift Condensed" panose="020B0502040204020203" pitchFamily="34" charset="0"/>
              </a:rPr>
              <a:t/>
            </a:r>
            <a:br>
              <a:rPr lang="en-US" i="1" dirty="0">
                <a:latin typeface="Bahnschrift Condensed" panose="020B0502040204020203" pitchFamily="34" charset="0"/>
              </a:rPr>
            </a:br>
            <a:r>
              <a:rPr lang="en-US" i="1" dirty="0">
                <a:latin typeface="Bahnschrift Condensed" panose="020B0502040204020203" pitchFamily="34" charset="0"/>
              </a:rPr>
              <a:t>AI can help people with difficult and repetitive tasks.</a:t>
            </a:r>
          </a:p>
          <a:p>
            <a:r>
              <a:rPr lang="en-US" b="1" i="1" dirty="0">
                <a:latin typeface="Bahnschrift Condensed" panose="020B0502040204020203" pitchFamily="34" charset="0"/>
              </a:rPr>
              <a:t>4. Improves Healthcare</a:t>
            </a:r>
            <a:r>
              <a:rPr lang="en-US" i="1" dirty="0">
                <a:latin typeface="Bahnschrift Condensed" panose="020B0502040204020203" pitchFamily="34" charset="0"/>
              </a:rPr>
              <a:t/>
            </a:r>
            <a:br>
              <a:rPr lang="en-US" i="1" dirty="0">
                <a:latin typeface="Bahnschrift Condensed" panose="020B0502040204020203" pitchFamily="34" charset="0"/>
              </a:rPr>
            </a:br>
            <a:r>
              <a:rPr lang="en-US" i="1" dirty="0">
                <a:latin typeface="Bahnschrift Condensed" panose="020B0502040204020203" pitchFamily="34" charset="0"/>
              </a:rPr>
              <a:t>AI helps doctors study medical information.</a:t>
            </a:r>
          </a:p>
          <a:p>
            <a:r>
              <a:rPr lang="en-US" b="1" i="1" dirty="0">
                <a:latin typeface="Bahnschrift Condensed" panose="020B0502040204020203" pitchFamily="34" charset="0"/>
              </a:rPr>
              <a:t>5. Supports Education</a:t>
            </a:r>
            <a:r>
              <a:rPr lang="en-US" i="1" dirty="0">
                <a:latin typeface="Bahnschrift Condensed" panose="020B0502040204020203" pitchFamily="34" charset="0"/>
              </a:rPr>
              <a:t/>
            </a:r>
            <a:br>
              <a:rPr lang="en-US" i="1" dirty="0">
                <a:latin typeface="Bahnschrift Condensed" panose="020B0502040204020203" pitchFamily="34" charset="0"/>
              </a:rPr>
            </a:br>
            <a:r>
              <a:rPr lang="en-US" i="1" dirty="0">
                <a:latin typeface="Bahnschrift Condensed" panose="020B0502040204020203" pitchFamily="34" charset="0"/>
              </a:rPr>
              <a:t>AI helps students understand difficult topics</a:t>
            </a:r>
            <a:r>
              <a:rPr lang="en-US" i="1" dirty="0" smtClean="0">
                <a:latin typeface="Bahnschrift Condensed" panose="020B0502040204020203" pitchFamily="34" charset="0"/>
              </a:rPr>
              <a:t>.</a:t>
            </a:r>
          </a:p>
          <a:p>
            <a:r>
              <a:rPr lang="en-US" b="1" i="1" dirty="0">
                <a:latin typeface="Bahnschrift Condensed" panose="020B0502040204020203" pitchFamily="34" charset="0"/>
              </a:rPr>
              <a:t>6. Works 24/7</a:t>
            </a:r>
            <a:r>
              <a:rPr lang="en-US" i="1" dirty="0">
                <a:latin typeface="Bahnschrift Condensed" panose="020B0502040204020203" pitchFamily="34" charset="0"/>
              </a:rPr>
              <a:t/>
            </a:r>
            <a:br>
              <a:rPr lang="en-US" i="1" dirty="0">
                <a:latin typeface="Bahnschrift Condensed" panose="020B0502040204020203" pitchFamily="34" charset="0"/>
              </a:rPr>
            </a:br>
            <a:r>
              <a:rPr lang="en-US" i="1" dirty="0">
                <a:latin typeface="Bahnschrift Condensed" panose="020B0502040204020203" pitchFamily="34" charset="0"/>
              </a:rPr>
              <a:t>Many AI systems can work day and </a:t>
            </a:r>
            <a:r>
              <a:rPr lang="en-US" i="1" dirty="0" smtClean="0">
                <a:latin typeface="Bahnschrift Condensed" panose="020B0502040204020203" pitchFamily="34" charset="0"/>
              </a:rPr>
              <a:t>night </a:t>
            </a:r>
            <a:r>
              <a:rPr lang="en-US" i="1" dirty="0">
                <a:latin typeface="Bahnschrift Condensed" panose="020B0502040204020203" pitchFamily="34" charset="0"/>
              </a:rPr>
              <a:t>without taking </a:t>
            </a:r>
            <a:r>
              <a:rPr lang="en-US" i="1" dirty="0" smtClean="0">
                <a:latin typeface="Bahnschrift Condensed" panose="020B0502040204020203" pitchFamily="34" charset="0"/>
              </a:rPr>
              <a:t>breaks.</a:t>
            </a:r>
          </a:p>
          <a:p>
            <a:r>
              <a:rPr lang="en-US" i="1" dirty="0">
                <a:latin typeface="Bahnschrift Condensed" panose="020B0502040204020203" pitchFamily="34" charset="0"/>
              </a:rPr>
              <a:t>                         AI makes our lives easier, faster, and more productive.”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41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0">
        <p14:pan dir="u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902" y="47297"/>
            <a:ext cx="5934508" cy="762000"/>
          </a:xfrm>
        </p:spPr>
        <p:txBody>
          <a:bodyPr/>
          <a:lstStyle/>
          <a:p>
            <a:pPr algn="ctr"/>
            <a:r>
              <a:rPr lang="en-US" dirty="0">
                <a:latin typeface="Bahnschrift Condensed" panose="020B0502040204020203" pitchFamily="34" charset="0"/>
              </a:rPr>
              <a:t>Disadvantages of AI</a:t>
            </a:r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12" name="AutoShape 12" descr="Generated image: AI Advantages Infographic Poster"/>
          <p:cNvSpPr>
            <a:spLocks noGrp="1" noChangeAspect="1" noChangeArrowheads="1"/>
          </p:cNvSpPr>
          <p:nvPr>
            <p:ph type="body" sz="half" idx="2"/>
          </p:nvPr>
        </p:nvSpPr>
        <p:spPr bwMode="auto">
          <a:xfrm>
            <a:off x="4650828" y="972207"/>
            <a:ext cx="7235605" cy="589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900" i="1" dirty="0">
                <a:latin typeface="Bahnschrift Condensed" panose="020B0502040204020203" pitchFamily="34" charset="0"/>
              </a:rPr>
              <a:t>Artificial Intelligence has many benefits, but it also has some disadvantages. It can create problems related to jobs, privacy, cost, and human skills.</a:t>
            </a:r>
          </a:p>
          <a:p>
            <a:r>
              <a:rPr lang="en-US" sz="1900" b="1" i="1" dirty="0">
                <a:latin typeface="Bahnschrift Condensed" panose="020B0502040204020203" pitchFamily="34" charset="0"/>
              </a:rPr>
              <a:t>Main Disadvantages of AI</a:t>
            </a:r>
          </a:p>
          <a:p>
            <a:r>
              <a:rPr lang="en-US" sz="1900" i="1" dirty="0">
                <a:latin typeface="Bahnschrift Condensed" panose="020B0502040204020203" pitchFamily="34" charset="0"/>
              </a:rPr>
              <a:t>1. Job Loss AI may replace some jobs that involve repetitive tasks.</a:t>
            </a:r>
          </a:p>
          <a:p>
            <a:r>
              <a:rPr lang="en-US" sz="1900" i="1" dirty="0">
                <a:latin typeface="Bahnschrift Condensed" panose="020B0502040204020203" pitchFamily="34" charset="0"/>
              </a:rPr>
              <a:t>2. High Cost Developing and maintaining AI systems can be expensive.</a:t>
            </a:r>
          </a:p>
          <a:p>
            <a:r>
              <a:rPr lang="en-US" sz="1900" i="1" dirty="0">
                <a:latin typeface="Bahnschrift Condensed" panose="020B0502040204020203" pitchFamily="34" charset="0"/>
              </a:rPr>
              <a:t>3. Privacy Problems AI systems may use personal data, so protecting privacy is important.</a:t>
            </a:r>
          </a:p>
          <a:p>
            <a:r>
              <a:rPr lang="en-US" sz="1900" i="1" dirty="0">
                <a:latin typeface="Bahnschrift Condensed" panose="020B0502040204020203" pitchFamily="34" charset="0"/>
              </a:rPr>
              <a:t>4. Less Human Interaction Using AI too much may reduce communication between people.</a:t>
            </a:r>
          </a:p>
          <a:p>
            <a:r>
              <a:rPr lang="en-US" sz="1900" i="1" dirty="0">
                <a:latin typeface="Bahnschrift Condensed" panose="020B0502040204020203" pitchFamily="34" charset="0"/>
              </a:rPr>
              <a:t>5. Dependence on Technology People may depend too much on AI instead of thinking independently.</a:t>
            </a:r>
          </a:p>
          <a:p>
            <a:r>
              <a:rPr lang="en-US" sz="1900" i="1" dirty="0">
                <a:latin typeface="Bahnschrift Condensed" panose="020B0502040204020203" pitchFamily="34" charset="0"/>
              </a:rPr>
              <a:t>6. Mistakes and Errors AI can sometimes give incorrect information or make mistakes.</a:t>
            </a:r>
          </a:p>
          <a:p>
            <a:r>
              <a:rPr lang="en-US" sz="1800" i="1" dirty="0" smtClean="0">
                <a:latin typeface="Bahnschrift Condensed" panose="020B0502040204020203" pitchFamily="34" charset="0"/>
              </a:rPr>
              <a:t>                      </a:t>
            </a:r>
            <a:r>
              <a:rPr lang="en-US" sz="1800" i="1" dirty="0">
                <a:latin typeface="Bahnschrift Condensed" panose="020B0502040204020203" pitchFamily="34" charset="0"/>
              </a:rPr>
              <a:t>“AI is useful, but we must use it carefully and responsibly.”</a:t>
            </a:r>
            <a:endParaRPr lang="en-US" sz="1800" i="1" dirty="0" smtClean="0">
              <a:latin typeface="Bahnschrift Condensed" panose="020B0502040204020203" pitchFamily="34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0" b="2900"/>
          <a:stretch>
            <a:fillRect/>
          </a:stretch>
        </p:blipFill>
        <p:spPr bwMode="auto">
          <a:xfrm>
            <a:off x="0" y="0"/>
            <a:ext cx="43197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415104"/>
      </p:ext>
    </p:extLst>
  </p:cSld>
  <p:clrMapOvr>
    <a:masterClrMapping/>
  </p:clrMapOvr>
  <p:transition spd="slow" advClick="0" advTm="1000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4333" y="0"/>
            <a:ext cx="5934508" cy="793530"/>
          </a:xfrm>
        </p:spPr>
        <p:txBody>
          <a:bodyPr/>
          <a:lstStyle/>
          <a:p>
            <a:pPr algn="ctr"/>
            <a:r>
              <a:rPr lang="en-US" dirty="0">
                <a:latin typeface="Bahnschrift Condensed" panose="020B0502040204020203" pitchFamily="34" charset="0"/>
              </a:rPr>
              <a:t>The Future of AI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" r="1840"/>
          <a:stretch>
            <a:fillRect/>
          </a:stretch>
        </p:blipFill>
        <p:spPr>
          <a:xfrm>
            <a:off x="0" y="-134007"/>
            <a:ext cx="4404333" cy="6858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03531" y="977462"/>
            <a:ext cx="7315199" cy="5746531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Bahnschrift Condensed" panose="020B0502040204020203" pitchFamily="34" charset="0"/>
              </a:rPr>
              <a:t>Artificial Intelligence is changing the world and will play an important role in the future. It may help people improve education, healthcare, transportation, and technology.</a:t>
            </a:r>
          </a:p>
          <a:p>
            <a:r>
              <a:rPr lang="en-US" sz="2000" b="1" i="1" dirty="0">
                <a:latin typeface="Bahnschrift Condensed" panose="020B0502040204020203" pitchFamily="34" charset="0"/>
              </a:rPr>
              <a:t>What Can AI Do in the Future?</a:t>
            </a:r>
          </a:p>
          <a:p>
            <a:r>
              <a:rPr lang="en-US" sz="2000" i="1" dirty="0">
                <a:latin typeface="Bahnschrift Condensed" panose="020B0502040204020203" pitchFamily="34" charset="0"/>
              </a:rPr>
              <a:t>1. Smart </a:t>
            </a:r>
            <a:r>
              <a:rPr lang="en-US" sz="2000" i="1" dirty="0" smtClean="0">
                <a:latin typeface="Bahnschrift Condensed" panose="020B0502040204020203" pitchFamily="34" charset="0"/>
              </a:rPr>
              <a:t>Education : AI </a:t>
            </a:r>
            <a:r>
              <a:rPr lang="en-US" sz="2000" i="1" dirty="0">
                <a:latin typeface="Bahnschrift Condensed" panose="020B0502040204020203" pitchFamily="34" charset="0"/>
              </a:rPr>
              <a:t>may make learning more personal and easier.</a:t>
            </a:r>
          </a:p>
          <a:p>
            <a:r>
              <a:rPr lang="en-US" sz="2000" i="1" dirty="0">
                <a:latin typeface="Bahnschrift Condensed" panose="020B0502040204020203" pitchFamily="34" charset="0"/>
              </a:rPr>
              <a:t>2. Better </a:t>
            </a:r>
            <a:r>
              <a:rPr lang="en-US" sz="2000" i="1" dirty="0" smtClean="0">
                <a:latin typeface="Bahnschrift Condensed" panose="020B0502040204020203" pitchFamily="34" charset="0"/>
              </a:rPr>
              <a:t>Healthcare : </a:t>
            </a:r>
            <a:r>
              <a:rPr lang="en-US" sz="2000" i="1" dirty="0">
                <a:latin typeface="Bahnschrift Condensed" panose="020B0502040204020203" pitchFamily="34" charset="0"/>
              </a:rPr>
              <a:t>AI may help doctors detect diseases and study new treatments.</a:t>
            </a:r>
          </a:p>
          <a:p>
            <a:r>
              <a:rPr lang="en-US" sz="2000" i="1" dirty="0">
                <a:latin typeface="Bahnschrift Condensed" panose="020B0502040204020203" pitchFamily="34" charset="0"/>
              </a:rPr>
              <a:t>3. Smart </a:t>
            </a:r>
            <a:r>
              <a:rPr lang="en-US" sz="2000" i="1" dirty="0" smtClean="0">
                <a:latin typeface="Bahnschrift Condensed" panose="020B0502040204020203" pitchFamily="34" charset="0"/>
              </a:rPr>
              <a:t>Transportation : </a:t>
            </a:r>
            <a:r>
              <a:rPr lang="en-US" sz="2000" i="1" dirty="0">
                <a:latin typeface="Bahnschrift Condensed" panose="020B0502040204020203" pitchFamily="34" charset="0"/>
              </a:rPr>
              <a:t>AI may help improve traffic management and vehicle safety.</a:t>
            </a:r>
          </a:p>
          <a:p>
            <a:r>
              <a:rPr lang="en-US" sz="2000" i="1" dirty="0">
                <a:latin typeface="Bahnschrift Condensed" panose="020B0502040204020203" pitchFamily="34" charset="0"/>
              </a:rPr>
              <a:t>4. Advanced </a:t>
            </a:r>
            <a:r>
              <a:rPr lang="en-US" sz="2000" i="1" dirty="0" smtClean="0">
                <a:latin typeface="Bahnschrift Condensed" panose="020B0502040204020203" pitchFamily="34" charset="0"/>
              </a:rPr>
              <a:t>Technology : </a:t>
            </a:r>
            <a:r>
              <a:rPr lang="en-US" sz="2000" i="1" dirty="0">
                <a:latin typeface="Bahnschrift Condensed" panose="020B0502040204020203" pitchFamily="34" charset="0"/>
              </a:rPr>
              <a:t>AI may help people solve complex problems and develop new inventions.</a:t>
            </a:r>
          </a:p>
          <a:p>
            <a:r>
              <a:rPr lang="en-US" sz="2000" i="1" dirty="0">
                <a:latin typeface="Bahnschrift Condensed" panose="020B0502040204020203" pitchFamily="34" charset="0"/>
              </a:rPr>
              <a:t>5. Human and AI </a:t>
            </a:r>
            <a:r>
              <a:rPr lang="en-US" sz="2000" i="1" dirty="0" smtClean="0">
                <a:latin typeface="Bahnschrift Condensed" panose="020B0502040204020203" pitchFamily="34" charset="0"/>
              </a:rPr>
              <a:t>Teamwork : People </a:t>
            </a:r>
            <a:r>
              <a:rPr lang="en-US" sz="2000" i="1" dirty="0">
                <a:latin typeface="Bahnschrift Condensed" panose="020B0502040204020203" pitchFamily="34" charset="0"/>
              </a:rPr>
              <a:t>can work with AI to achieve better results.</a:t>
            </a:r>
          </a:p>
          <a:p>
            <a:r>
              <a:rPr lang="en-US" sz="2000" i="1" dirty="0" smtClean="0">
                <a:latin typeface="Bahnschrift Condensed" panose="020B0502040204020203" pitchFamily="34" charset="0"/>
              </a:rPr>
              <a:t>           “The future of </a:t>
            </a:r>
            <a:r>
              <a:rPr lang="en-US" sz="2000" i="1" dirty="0">
                <a:latin typeface="Bahnschrift Condensed" panose="020B0502040204020203" pitchFamily="34" charset="0"/>
              </a:rPr>
              <a:t>AI depends on how wisely and responsibly we </a:t>
            </a:r>
            <a:r>
              <a:rPr lang="en-US" sz="2000" i="1" dirty="0" smtClean="0">
                <a:latin typeface="Bahnschrift Condensed" panose="020B0502040204020203" pitchFamily="34" charset="0"/>
              </a:rPr>
              <a:t>use</a:t>
            </a:r>
            <a:r>
              <a:rPr lang="en-US" sz="2000" i="1" dirty="0">
                <a:latin typeface="Bahnschrift Condensed" panose="020B0502040204020203" pitchFamily="34" charset="0"/>
              </a:rPr>
              <a:t> </a:t>
            </a:r>
            <a:r>
              <a:rPr lang="en-US" sz="2000" i="1" dirty="0" smtClean="0">
                <a:latin typeface="Bahnschrift Condensed" panose="020B0502040204020203" pitchFamily="34" charset="0"/>
              </a:rPr>
              <a:t> it.”         </a:t>
            </a:r>
            <a:endParaRPr lang="en-US" sz="2000" i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004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0">
        <p14:doors dir="ver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840" y="0"/>
            <a:ext cx="5934508" cy="714703"/>
          </a:xfrm>
        </p:spPr>
        <p:txBody>
          <a:bodyPr/>
          <a:lstStyle/>
          <a:p>
            <a:pPr algn="ctr"/>
            <a:r>
              <a:rPr lang="en-US" dirty="0">
                <a:latin typeface="Bahnschrift Condensed" panose="020B0502040204020203" pitchFamily="34" charset="0"/>
              </a:rPr>
              <a:t>Problems and Risks of AI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8" r="3628"/>
          <a:stretch>
            <a:fillRect/>
          </a:stretch>
        </p:blipFill>
        <p:spPr>
          <a:xfrm>
            <a:off x="0" y="0"/>
            <a:ext cx="4240213" cy="6858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03532" y="914399"/>
            <a:ext cx="7173310" cy="5665075"/>
          </a:xfrm>
        </p:spPr>
        <p:txBody>
          <a:bodyPr>
            <a:normAutofit/>
          </a:bodyPr>
          <a:lstStyle/>
          <a:p>
            <a:r>
              <a:rPr lang="en-US" sz="1800" i="1" dirty="0">
                <a:latin typeface="Bahnschrift Condensed" panose="020B0502040204020203" pitchFamily="34" charset="0"/>
              </a:rPr>
              <a:t>Artificial Intelligence has many benefits, but it also comes with problems and risks. These can affect people, society, privacy, and the future.</a:t>
            </a:r>
          </a:p>
          <a:p>
            <a:r>
              <a:rPr lang="en-US" sz="1800" b="1" i="1" dirty="0">
                <a:latin typeface="Bahnschrift Condensed" panose="020B0502040204020203" pitchFamily="34" charset="0"/>
              </a:rPr>
              <a:t>Main Problems and Risks of AI</a:t>
            </a:r>
          </a:p>
          <a:p>
            <a:r>
              <a:rPr lang="en-US" sz="1800" i="1" dirty="0">
                <a:latin typeface="Bahnschrift Condensed" panose="020B0502040204020203" pitchFamily="34" charset="0"/>
              </a:rPr>
              <a:t>Job Displacement: AI may replace some jobs and cause unemployment.</a:t>
            </a:r>
          </a:p>
          <a:p>
            <a:r>
              <a:rPr lang="en-US" sz="1800" i="1" dirty="0">
                <a:latin typeface="Bahnschrift Condensed" panose="020B0502040204020203" pitchFamily="34" charset="0"/>
              </a:rPr>
              <a:t>Privacy and Security Risks: AI may misuse personal data and create privacy problems.</a:t>
            </a:r>
          </a:p>
          <a:p>
            <a:r>
              <a:rPr lang="en-US" sz="1800" i="1" dirty="0">
                <a:latin typeface="Bahnschrift Condensed" panose="020B0502040204020203" pitchFamily="34" charset="0"/>
              </a:rPr>
              <a:t>Bias and Unfairness: AI can make unfair decisions if it learns from incorrect or biased data.</a:t>
            </a:r>
          </a:p>
          <a:p>
            <a:r>
              <a:rPr lang="en-US" sz="1800" i="1" dirty="0">
                <a:latin typeface="Bahnschrift Condensed" panose="020B0502040204020203" pitchFamily="34" charset="0"/>
              </a:rPr>
              <a:t>High Cost: Developing and maintaining AI systems can be expensive.</a:t>
            </a:r>
          </a:p>
          <a:p>
            <a:r>
              <a:rPr lang="en-US" sz="1800" i="1" dirty="0">
                <a:latin typeface="Bahnschrift Condensed" panose="020B0502040204020203" pitchFamily="34" charset="0"/>
              </a:rPr>
              <a:t>Dependence on Technology: People may depend too much on AI and use their own skills less.</a:t>
            </a:r>
          </a:p>
          <a:p>
            <a:r>
              <a:rPr lang="en-US" sz="1800" i="1" dirty="0">
                <a:latin typeface="Bahnschrift Condensed" panose="020B0502040204020203" pitchFamily="34" charset="0"/>
              </a:rPr>
              <a:t>Misinformation and Fake Content: AI can create fake images, videos, and information that mislead people.</a:t>
            </a:r>
          </a:p>
          <a:p>
            <a:r>
              <a:rPr lang="en-US" sz="1800" dirty="0" smtClean="0">
                <a:latin typeface="Bahnschrift Condensed" panose="020B0502040204020203" pitchFamily="34" charset="0"/>
              </a:rPr>
              <a:t>                      </a:t>
            </a:r>
            <a:r>
              <a:rPr lang="en-US" sz="1800" dirty="0">
                <a:latin typeface="Bahnschrift Condensed" panose="020B0502040204020203" pitchFamily="34" charset="0"/>
              </a:rPr>
              <a:t>“AI is powerful, but it also has risks. We must use it wisely and safely.”</a:t>
            </a:r>
          </a:p>
          <a:p>
            <a:endParaRPr lang="en-US" sz="1800" i="1" dirty="0" smtClean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340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10000">
        <p14:ferris dir="r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753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Bahnschrift Condensed</vt:lpstr>
      <vt:lpstr>Bahnschrift SemiBold Condensed</vt:lpstr>
      <vt:lpstr>Calibri</vt:lpstr>
      <vt:lpstr>Trebuchet MS</vt:lpstr>
      <vt:lpstr>Tw Cen MT</vt:lpstr>
      <vt:lpstr>Circuit</vt:lpstr>
      <vt:lpstr>    ARTIFICIAL INTELLIGENCE  (AI) </vt:lpstr>
      <vt:lpstr>WHAT IS ARTIFICIAL INTELLIGENCE ? </vt:lpstr>
      <vt:lpstr>Why AI Is Important ?</vt:lpstr>
      <vt:lpstr>Types of AI ?</vt:lpstr>
      <vt:lpstr>Applications of AI ?</vt:lpstr>
      <vt:lpstr>AI in Everyday Life</vt:lpstr>
      <vt:lpstr>AI in Education</vt:lpstr>
      <vt:lpstr>Advantages of AI</vt:lpstr>
      <vt:lpstr>Disadvantages of AI</vt:lpstr>
      <vt:lpstr>The Future of AI</vt:lpstr>
      <vt:lpstr>Problems and Risks of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2026-10-06T10:40:21Z</dcterms:created>
  <dcterms:modified xsi:type="dcterms:W3CDTF">2026-10-09T11:24:18Z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